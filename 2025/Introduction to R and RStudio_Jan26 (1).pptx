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4"/>
  </p:sldMasterIdLst>
  <p:notesMasterIdLst>
    <p:notesMasterId r:id="rId16"/>
  </p:notesMasterIdLst>
  <p:sldIdLst>
    <p:sldId id="256" r:id="rId5"/>
    <p:sldId id="283" r:id="rId6"/>
    <p:sldId id="257" r:id="rId7"/>
    <p:sldId id="258" r:id="rId8"/>
    <p:sldId id="287" r:id="rId9"/>
    <p:sldId id="292" r:id="rId10"/>
    <p:sldId id="285" r:id="rId11"/>
    <p:sldId id="288" r:id="rId12"/>
    <p:sldId id="293" r:id="rId13"/>
    <p:sldId id="289" r:id="rId14"/>
    <p:sldId id="281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1E42"/>
    <a:srgbClr val="90C2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755" autoAdjust="0"/>
    <p:restoredTop sz="74372" autoAdjust="0"/>
  </p:normalViewPr>
  <p:slideViewPr>
    <p:cSldViewPr snapToGrid="0">
      <p:cViewPr varScale="1">
        <p:scale>
          <a:sx n="47" d="100"/>
          <a:sy n="47" d="100"/>
        </p:scale>
        <p:origin x="1540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420DB3-DB4E-455A-B8BD-AA7FEFD7CD83}" type="datetimeFigureOut">
              <a:rPr lang="en-GB" smtClean="0"/>
              <a:t>22/01/2026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FE8176-A870-43EE-B2AB-C4200210AE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14686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Who am I and how and why do I use R?</a:t>
            </a:r>
          </a:p>
          <a:p>
            <a:r>
              <a:rPr lang="en-GB" dirty="0"/>
              <a:t>- Alex: Archaeologist, former public historian and current heritage scholar:</a:t>
            </a:r>
          </a:p>
          <a:p>
            <a:pPr marL="171450" indent="-171450">
              <a:buFontTx/>
              <a:buChar char="-"/>
            </a:pPr>
            <a:r>
              <a:rPr lang="en-GB" dirty="0"/>
              <a:t>I use R to manage my data, access APIs and perform the quantitative analytic sections of my research, though in practice most of my analysis relies on close reading and human qualitative review</a:t>
            </a:r>
          </a:p>
          <a:p>
            <a:pPr marL="171450" indent="-171450">
              <a:buFontTx/>
              <a:buChar char="-"/>
            </a:pPr>
            <a:r>
              <a:rPr lang="en-GB" dirty="0"/>
              <a:t>Analytically, I am interested in sampling and RStudio is perfect for data transformations and visualisation</a:t>
            </a:r>
          </a:p>
          <a:p>
            <a:r>
              <a:rPr lang="en-GB" dirty="0"/>
              <a:t>- I use R to clearly generate samples, conduct topic modelling and perform other NLP tasks on big data from Social Media APIs, including Facebook, Instagram and YouTube. I also use RStudio to run Python for more complex analyses.</a:t>
            </a:r>
            <a:br>
              <a:rPr lang="en-GB" dirty="0"/>
            </a:br>
            <a:r>
              <a:rPr lang="en-GB" dirty="0"/>
              <a:t>- Aybuke: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FE8176-A870-43EE-B2AB-C4200210AE6F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057160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935DE-EE82-448F-BD2C-F33E7B672033}" type="datetimeFigureOut">
              <a:rPr lang="en-GB" smtClean="0"/>
              <a:t>22/01/2026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E3ED9-553B-4B53-A8D6-B79202B4BD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06379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935DE-EE82-448F-BD2C-F33E7B672033}" type="datetimeFigureOut">
              <a:rPr lang="en-GB" smtClean="0"/>
              <a:t>22/01/2026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E3ED9-553B-4B53-A8D6-B79202B4BD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6441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935DE-EE82-448F-BD2C-F33E7B672033}" type="datetimeFigureOut">
              <a:rPr lang="en-GB" smtClean="0"/>
              <a:t>22/01/2026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E3ED9-553B-4B53-A8D6-B79202B4BD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16733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935DE-EE82-448F-BD2C-F33E7B672033}" type="datetimeFigureOut">
              <a:rPr lang="en-GB" smtClean="0"/>
              <a:t>22/01/2026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E3ED9-553B-4B53-A8D6-B79202B4BD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26577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935DE-EE82-448F-BD2C-F33E7B672033}" type="datetimeFigureOut">
              <a:rPr lang="en-GB" smtClean="0"/>
              <a:t>22/01/2026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E3ED9-553B-4B53-A8D6-B79202B4BD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09239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935DE-EE82-448F-BD2C-F33E7B672033}" type="datetimeFigureOut">
              <a:rPr lang="en-GB" smtClean="0"/>
              <a:t>22/01/2026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E3ED9-553B-4B53-A8D6-B79202B4BD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79727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935DE-EE82-448F-BD2C-F33E7B672033}" type="datetimeFigureOut">
              <a:rPr lang="en-GB" smtClean="0"/>
              <a:t>22/01/2026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E3ED9-553B-4B53-A8D6-B79202B4BD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66749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935DE-EE82-448F-BD2C-F33E7B672033}" type="datetimeFigureOut">
              <a:rPr lang="en-GB" smtClean="0"/>
              <a:t>22/01/2026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E3ED9-553B-4B53-A8D6-B79202B4BD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7742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E3ED9-553B-4B53-A8D6-B79202B4BD6B}" type="slidenum">
              <a:rPr lang="en-GB" smtClean="0"/>
              <a:t>‹#›</a:t>
            </a:fld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935DE-EE82-448F-BD2C-F33E7B672033}" type="datetimeFigureOut">
              <a:rPr lang="en-GB" smtClean="0"/>
              <a:t>22/01/2026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1611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935DE-EE82-448F-BD2C-F33E7B672033}" type="datetimeFigureOut">
              <a:rPr lang="en-GB" smtClean="0"/>
              <a:t>22/01/2026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E3ED9-553B-4B53-A8D6-B79202B4BD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98234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935DE-EE82-448F-BD2C-F33E7B672033}" type="datetimeFigureOut">
              <a:rPr lang="en-GB" smtClean="0"/>
              <a:t>22/01/2026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E3ED9-553B-4B53-A8D6-B79202B4BD6B}" type="slidenum">
              <a:rPr lang="en-GB" smtClean="0"/>
              <a:t>‹#›</a:t>
            </a:fld>
            <a:endParaRPr lang="en-GB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930901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935DE-EE82-448F-BD2C-F33E7B672033}" type="datetimeFigureOut">
              <a:rPr lang="en-GB" smtClean="0"/>
              <a:t>22/01/2026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E3ED9-553B-4B53-A8D6-B79202B4BD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48788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935DE-EE82-448F-BD2C-F33E7B672033}" type="datetimeFigureOut">
              <a:rPr lang="en-GB" smtClean="0"/>
              <a:t>22/01/2026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E3ED9-553B-4B53-A8D6-B79202B4BD6B}" type="slidenum">
              <a:rPr lang="en-GB" smtClean="0"/>
              <a:t>‹#›</a:t>
            </a:fld>
            <a:endParaRPr lang="en-GB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17696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935DE-EE82-448F-BD2C-F33E7B672033}" type="datetimeFigureOut">
              <a:rPr lang="en-GB" smtClean="0"/>
              <a:t>22/01/2026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E3ED9-553B-4B53-A8D6-B79202B4BD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267207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935DE-EE82-448F-BD2C-F33E7B672033}" type="datetimeFigureOut">
              <a:rPr lang="en-GB" smtClean="0"/>
              <a:t>22/01/2026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E3ED9-553B-4B53-A8D6-B79202B4BD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15224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935DE-EE82-448F-BD2C-F33E7B672033}" type="datetimeFigureOut">
              <a:rPr lang="en-GB" smtClean="0"/>
              <a:t>22/01/2026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E3ED9-553B-4B53-A8D6-B79202B4BD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94552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F935DE-EE82-448F-BD2C-F33E7B672033}" type="datetimeFigureOut">
              <a:rPr lang="en-GB" smtClean="0"/>
              <a:t>22/01/2026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97BE3ED9-553B-4B53-A8D6-B79202B4BD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70894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studio.com/products/rstudio/" TargetMode="External"/><Relationship Id="rId2" Type="http://schemas.openxmlformats.org/officeDocument/2006/relationships/hyperlink" Target="https://www.r-project.org/about.html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idyverse.org/" TargetMode="External"/><Relationship Id="rId2" Type="http://schemas.openxmlformats.org/officeDocument/2006/relationships/hyperlink" Target="https://support.rstudio.com/hc/en-us/articles/201057987-Quick-list-of-useful-R-packages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hyperlink" Target="https://github.com/rstudio/cheatsheets/blob/main/data-transformation.pdf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rstudio.github.io/cheatsheets/html/data-transformation.html?_gl=1*1j10rah*_ga*MTA3MzgzMTk5Ny4xNzU4MzE4Mjk1*_ga_2C0WZ1JHG0*czE3NTgzMTgyOTQkbzEkZzEkdDE3NTgzMTg0NDUkajEzJGwwJGgw" TargetMode="External"/><Relationship Id="rId2" Type="http://schemas.openxmlformats.org/officeDocument/2006/relationships/hyperlink" Target="https://r4ds.hadley.nz/workflow-scripts.html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Icon&#10;&#10;Description automatically generated">
            <a:extLst>
              <a:ext uri="{FF2B5EF4-FFF2-40B4-BE49-F238E27FC236}">
                <a16:creationId xmlns:a16="http://schemas.microsoft.com/office/drawing/2014/main" id="{13652E18-EADA-4806-860F-2D28DC07DD5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24" r="16963" b="9091"/>
          <a:stretch/>
        </p:blipFill>
        <p:spPr>
          <a:xfrm>
            <a:off x="516797" y="2033195"/>
            <a:ext cx="6001990" cy="482480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88B6D63-D41F-48B5-BEA8-1EA498A4D5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7832" y="557997"/>
            <a:ext cx="8327922" cy="1356551"/>
          </a:xfrm>
        </p:spPr>
        <p:txBody>
          <a:bodyPr>
            <a:normAutofit fontScale="90000"/>
          </a:bodyPr>
          <a:lstStyle/>
          <a:p>
            <a:pPr algn="ctr">
              <a:lnSpc>
                <a:spcPct val="90000"/>
              </a:lnSpc>
            </a:pPr>
            <a:r>
              <a:rPr lang="en-US" b="1" i="0" dirty="0">
                <a:solidFill>
                  <a:schemeClr val="accent1">
                    <a:lumMod val="50000"/>
                  </a:schemeClr>
                </a:solidFill>
                <a:effectLst/>
                <a:latin typeface="Segoe UI" panose="020B0502040204020203" pitchFamily="34" charset="0"/>
              </a:rPr>
              <a:t>Introduction to R and RStudio</a:t>
            </a:r>
          </a:p>
        </p:txBody>
      </p:sp>
      <p:pic>
        <p:nvPicPr>
          <p:cNvPr id="4" name="Google Shape;121;p4">
            <a:extLst>
              <a:ext uri="{FF2B5EF4-FFF2-40B4-BE49-F238E27FC236}">
                <a16:creationId xmlns:a16="http://schemas.microsoft.com/office/drawing/2014/main" id="{DC10FA58-D404-01E7-6562-5B11DA37AC6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04711" y="5063674"/>
            <a:ext cx="1787289" cy="1794326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3D1BC27-D318-6B72-28FE-DAEEE9C2C1E7}"/>
              </a:ext>
            </a:extLst>
          </p:cNvPr>
          <p:cNvSpPr txBox="1"/>
          <p:nvPr/>
        </p:nvSpPr>
        <p:spPr>
          <a:xfrm>
            <a:off x="5712667" y="6300003"/>
            <a:ext cx="32587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dirty="0">
                <a:solidFill>
                  <a:schemeClr val="accent1">
                    <a:lumMod val="75000"/>
                  </a:schemeClr>
                </a:solidFill>
              </a:rPr>
              <a:t>Javiera.Alfaro@ed.ac.uk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FECA9E7-CFE1-3ABB-F177-0B6123D41FFE}"/>
              </a:ext>
            </a:extLst>
          </p:cNvPr>
          <p:cNvSpPr txBox="1"/>
          <p:nvPr/>
        </p:nvSpPr>
        <p:spPr>
          <a:xfrm>
            <a:off x="5712667" y="5871348"/>
            <a:ext cx="32587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dirty="0">
                <a:solidFill>
                  <a:schemeClr val="accent1">
                    <a:lumMod val="75000"/>
                  </a:schemeClr>
                </a:solidFill>
              </a:rPr>
              <a:t>r.m.m.davies@sms.ed.ac.uk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F66FE63-19F7-3CED-EF8E-A10204008D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1AFC3FB-DF21-6266-EA9C-DB2E79878F92}"/>
              </a:ext>
            </a:extLst>
          </p:cNvPr>
          <p:cNvSpPr txBox="1"/>
          <p:nvPr/>
        </p:nvSpPr>
        <p:spPr>
          <a:xfrm>
            <a:off x="6943368" y="4549676"/>
            <a:ext cx="5248632" cy="2308324"/>
          </a:xfrm>
          <a:prstGeom prst="rect">
            <a:avLst/>
          </a:prstGeom>
          <a:solidFill>
            <a:srgbClr val="041E42"/>
          </a:solidFill>
        </p:spPr>
        <p:txBody>
          <a:bodyPr wrap="square" rtlCol="0">
            <a:spAutoFit/>
          </a:bodyPr>
          <a:lstStyle/>
          <a:p>
            <a:r>
              <a:rPr lang="en-GB" sz="4800" dirty="0">
                <a:solidFill>
                  <a:schemeClr val="bg1"/>
                </a:solidFill>
                <a:latin typeface="Bauhaus 93" panose="04030905020B02020C02" pitchFamily="82" charset="0"/>
              </a:rPr>
              <a:t>GETTING STARTED WITH R FOR RESEARCH</a:t>
            </a:r>
          </a:p>
        </p:txBody>
      </p:sp>
    </p:spTree>
    <p:extLst>
      <p:ext uri="{BB962C8B-B14F-4D97-AF65-F5344CB8AC3E}">
        <p14:creationId xmlns:p14="http://schemas.microsoft.com/office/powerpoint/2010/main" val="402688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Icon&#10;&#10;Description automatically generated">
            <a:extLst>
              <a:ext uri="{FF2B5EF4-FFF2-40B4-BE49-F238E27FC236}">
                <a16:creationId xmlns:a16="http://schemas.microsoft.com/office/drawing/2014/main" id="{004B37A0-A86F-40C4-80E7-64A6C6E2C12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79" r="11343"/>
          <a:stretch/>
        </p:blipFill>
        <p:spPr>
          <a:xfrm>
            <a:off x="4269854" y="-1"/>
            <a:ext cx="7922146" cy="6858001"/>
          </a:xfrm>
          <a:custGeom>
            <a:avLst/>
            <a:gdLst/>
            <a:ahLst/>
            <a:cxnLst/>
            <a:rect l="l" t="t" r="r" b="b"/>
            <a:pathLst>
              <a:path w="7922146" h="6858001">
                <a:moveTo>
                  <a:pt x="379987" y="0"/>
                </a:moveTo>
                <a:lnTo>
                  <a:pt x="5304971" y="0"/>
                </a:lnTo>
                <a:lnTo>
                  <a:pt x="7065281" y="0"/>
                </a:lnTo>
                <a:lnTo>
                  <a:pt x="7397540" y="0"/>
                </a:lnTo>
                <a:lnTo>
                  <a:pt x="7397540" y="1"/>
                </a:lnTo>
                <a:lnTo>
                  <a:pt x="7922146" y="1"/>
                </a:lnTo>
                <a:lnTo>
                  <a:pt x="7922146" y="6858001"/>
                </a:lnTo>
                <a:lnTo>
                  <a:pt x="7065281" y="6858001"/>
                </a:lnTo>
                <a:lnTo>
                  <a:pt x="7065281" y="6858000"/>
                </a:lnTo>
                <a:lnTo>
                  <a:pt x="5932989" y="6858000"/>
                </a:lnTo>
                <a:lnTo>
                  <a:pt x="5932989" y="6858001"/>
                </a:lnTo>
                <a:lnTo>
                  <a:pt x="27809" y="6858001"/>
                </a:lnTo>
                <a:lnTo>
                  <a:pt x="1803228" y="4521201"/>
                </a:lnTo>
                <a:close/>
                <a:moveTo>
                  <a:pt x="0" y="0"/>
                </a:moveTo>
                <a:lnTo>
                  <a:pt x="379987" y="0"/>
                </a:lnTo>
                <a:lnTo>
                  <a:pt x="0" y="407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EE9D09F-1E6A-4463-9162-BB9C91BC0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3851123" cy="13208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Before Starting…</a:t>
            </a:r>
          </a:p>
        </p:txBody>
      </p:sp>
      <p:sp>
        <p:nvSpPr>
          <p:cNvPr id="6" name="Google Shape;115;p4">
            <a:extLst>
              <a:ext uri="{FF2B5EF4-FFF2-40B4-BE49-F238E27FC236}">
                <a16:creationId xmlns:a16="http://schemas.microsoft.com/office/drawing/2014/main" id="{8FAA3E5F-AC40-4BD6-87AC-1007B6E82E66}"/>
              </a:ext>
            </a:extLst>
          </p:cNvPr>
          <p:cNvSpPr txBox="1"/>
          <p:nvPr/>
        </p:nvSpPr>
        <p:spPr>
          <a:xfrm>
            <a:off x="677334" y="2160589"/>
            <a:ext cx="3851122" cy="3880773"/>
          </a:xfrm>
          <a:prstGeom prst="rect">
            <a:avLst/>
          </a:prstGeom>
        </p:spPr>
        <p:txBody>
          <a:bodyPr spcFirstLastPara="1" vert="horz" lIns="91440" tIns="45720" rIns="91440" bIns="45720" rtlCol="0" anchorCtr="0">
            <a:normAutofit fontScale="85000" lnSpcReduction="20000"/>
          </a:bodyPr>
          <a:lstStyle/>
          <a:p>
            <a:pPr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sym typeface="Calibri"/>
              </a:rPr>
              <a:t> The Workshop</a:t>
            </a:r>
          </a:p>
          <a:p>
            <a:pPr lvl="1"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sym typeface="Calibri"/>
              </a:rPr>
              <a:t>Format: 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sym typeface="Calibri"/>
              </a:rPr>
              <a:t>Work through code together on R Studio – discuss questions as we go</a:t>
            </a:r>
          </a:p>
          <a:p>
            <a:pPr lvl="1"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sym typeface="Calibri"/>
              </a:rPr>
              <a:t>Learning outcomes: 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sym typeface="Calibri"/>
              </a:rPr>
              <a:t>Get a basic understanding of how to use R and RStudio to read and modify data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286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sym typeface="Calibri"/>
              </a:rPr>
              <a:t>Two parts</a:t>
            </a:r>
          </a:p>
          <a:p>
            <a:pPr marL="2286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286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nb-NO" b="0" i="0" dirty="0">
                <a:solidFill>
                  <a:srgbClr val="0070C0"/>
                </a:solidFill>
                <a:effectLst/>
                <a:latin typeface="IntegralCF-Regular"/>
              </a:rPr>
              <a:t>25/</a:t>
            </a:r>
            <a:r>
              <a:rPr lang="nb-NO" dirty="0">
                <a:solidFill>
                  <a:srgbClr val="0070C0"/>
                </a:solidFill>
                <a:latin typeface="IntegralCF-Regular"/>
              </a:rPr>
              <a:t>09</a:t>
            </a:r>
            <a:r>
              <a:rPr lang="nb-NO" b="0" i="0" dirty="0">
                <a:solidFill>
                  <a:srgbClr val="0070C0"/>
                </a:solidFill>
                <a:effectLst/>
                <a:latin typeface="IntegralCF-Regular"/>
              </a:rPr>
              <a:t>/25, 14:00 – 16:00</a:t>
            </a:r>
          </a:p>
          <a:p>
            <a:pPr>
              <a:spcBef>
                <a:spcPts val="1000"/>
              </a:spcBef>
              <a:buClr>
                <a:schemeClr val="accent1"/>
              </a:buClr>
              <a:buSzPct val="80000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sym typeface="Calibri"/>
              </a:rPr>
              <a:t>Introduction to R and RStudio</a:t>
            </a:r>
          </a:p>
          <a:p>
            <a:pPr marL="2286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dirty="0">
                <a:solidFill>
                  <a:srgbClr val="0070C0"/>
                </a:solidFill>
                <a:latin typeface="IntegralCF-Regular"/>
              </a:rPr>
              <a:t>02/10/25</a:t>
            </a:r>
            <a:r>
              <a:rPr lang="en-US" b="0" i="0" dirty="0">
                <a:solidFill>
                  <a:srgbClr val="0070C0"/>
                </a:solidFill>
                <a:effectLst/>
                <a:latin typeface="IntegralCF-Regular"/>
              </a:rPr>
              <a:t>, </a:t>
            </a:r>
            <a:r>
              <a:rPr lang="en-US" dirty="0">
                <a:solidFill>
                  <a:srgbClr val="0070C0"/>
                </a:solidFill>
                <a:latin typeface="IntegralCF-Regular"/>
              </a:rPr>
              <a:t>14:00 – 16:00</a:t>
            </a:r>
            <a:endParaRPr lang="en-US" b="0" i="0" dirty="0">
              <a:solidFill>
                <a:srgbClr val="0070C0"/>
              </a:solidFill>
              <a:effectLst/>
              <a:latin typeface="IntegralCF-Regular"/>
            </a:endParaRPr>
          </a:p>
          <a:p>
            <a:pPr>
              <a:spcBef>
                <a:spcPts val="1000"/>
              </a:spcBef>
              <a:buClr>
                <a:schemeClr val="accent1"/>
              </a:buClr>
              <a:buSzPct val="80000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sym typeface="Calibri"/>
              </a:rPr>
              <a:t>Data wrangling and manipulation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28600" marR="0" lvl="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93994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E9D09F-1E6A-4463-9162-BB9C91BC0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206" y="440924"/>
            <a:ext cx="8596668" cy="1320800"/>
          </a:xfrm>
        </p:spPr>
        <p:txBody>
          <a:bodyPr/>
          <a:lstStyle/>
          <a:p>
            <a:r>
              <a:rPr lang="en-GB" dirty="0">
                <a:solidFill>
                  <a:schemeClr val="accent1">
                    <a:lumMod val="50000"/>
                  </a:schemeClr>
                </a:solidFill>
              </a:rPr>
              <a:t>Before</a:t>
            </a:r>
            <a:r>
              <a:rPr lang="en-GB" dirty="0"/>
              <a:t> </a:t>
            </a:r>
            <a:r>
              <a:rPr lang="en-GB" dirty="0">
                <a:solidFill>
                  <a:srgbClr val="0070C0"/>
                </a:solidFill>
              </a:rPr>
              <a:t>Starting</a:t>
            </a:r>
            <a:r>
              <a:rPr lang="en-GB" dirty="0"/>
              <a:t>…</a:t>
            </a:r>
          </a:p>
        </p:txBody>
      </p:sp>
      <p:pic>
        <p:nvPicPr>
          <p:cNvPr id="7" name="Google Shape;121;p4">
            <a:extLst>
              <a:ext uri="{FF2B5EF4-FFF2-40B4-BE49-F238E27FC236}">
                <a16:creationId xmlns:a16="http://schemas.microsoft.com/office/drawing/2014/main" id="{A4AA2B25-8BE2-4C59-8F08-2D2E6D9673A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93829" y="5523927"/>
            <a:ext cx="1185882" cy="1095611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F28CB3B9-DBDD-87AB-82D7-56E27CA03ECB}"/>
              </a:ext>
            </a:extLst>
          </p:cNvPr>
          <p:cNvSpPr txBox="1">
            <a:spLocks/>
          </p:cNvSpPr>
          <p:nvPr/>
        </p:nvSpPr>
        <p:spPr>
          <a:xfrm>
            <a:off x="2775033" y="1188929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dirty="0">
                <a:solidFill>
                  <a:srgbClr val="00B0F0"/>
                </a:solidFill>
              </a:rPr>
              <a:t>How we use R for our research</a:t>
            </a:r>
          </a:p>
        </p:txBody>
      </p:sp>
    </p:spTree>
    <p:extLst>
      <p:ext uri="{BB962C8B-B14F-4D97-AF65-F5344CB8AC3E}">
        <p14:creationId xmlns:p14="http://schemas.microsoft.com/office/powerpoint/2010/main" val="25776354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DD455-E6E2-437E-99D2-5279CE2535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746" y="609600"/>
            <a:ext cx="3729076" cy="1320800"/>
          </a:xfrm>
        </p:spPr>
        <p:txBody>
          <a:bodyPr anchor="ctr"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en-GB" sz="2800" dirty="0"/>
              <a:t>What is R and RStudio?</a:t>
            </a:r>
            <a:br>
              <a:rPr lang="en-GB" sz="2800" dirty="0"/>
            </a:br>
            <a:br>
              <a:rPr lang="en-GB" sz="2800" dirty="0"/>
            </a:br>
            <a:endParaRPr lang="en-GB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290B68-1810-42B4-A767-127981EADC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167" y="2160589"/>
            <a:ext cx="3720916" cy="3560733"/>
          </a:xfrm>
        </p:spPr>
        <p:txBody>
          <a:bodyPr>
            <a:normAutofit/>
          </a:bodyPr>
          <a:lstStyle/>
          <a:p>
            <a:r>
              <a:rPr lang="en-US" dirty="0"/>
              <a:t>‘a language and environment for statistical computing and graphics</a:t>
            </a:r>
            <a:r>
              <a:rPr lang="en-GB" dirty="0"/>
              <a:t>Points, lines or polygons’</a:t>
            </a:r>
          </a:p>
          <a:p>
            <a:r>
              <a:rPr lang="en-US" dirty="0"/>
              <a:t>‘an integrated development environment (IDE)’</a:t>
            </a:r>
          </a:p>
          <a:p>
            <a:r>
              <a:rPr lang="en-US" dirty="0"/>
              <a:t>R is the underlying software, RStudio greatly improves usability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97DD99A-C213-4711-AC7D-820C923D5C44}"/>
              </a:ext>
            </a:extLst>
          </p:cNvPr>
          <p:cNvSpPr txBox="1"/>
          <p:nvPr/>
        </p:nvSpPr>
        <p:spPr>
          <a:xfrm>
            <a:off x="411748" y="5958909"/>
            <a:ext cx="610552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hlinkClick r:id="rId2"/>
              </a:rPr>
              <a:t>https://www.r-project.org/about.html</a:t>
            </a:r>
            <a:endParaRPr lang="en-GB" dirty="0"/>
          </a:p>
          <a:p>
            <a:r>
              <a:rPr lang="en-GB" dirty="0">
                <a:hlinkClick r:id="rId3"/>
              </a:rPr>
              <a:t>https://www.rstudio.com/products/rstudio/</a:t>
            </a:r>
            <a:endParaRPr lang="en-GB" dirty="0"/>
          </a:p>
          <a:p>
            <a:endParaRPr lang="en-GB" dirty="0"/>
          </a:p>
        </p:txBody>
      </p:sp>
      <p:pic>
        <p:nvPicPr>
          <p:cNvPr id="6" name="Picture 5" descr="Logo, icon&#10;&#10;Description automatically generated">
            <a:extLst>
              <a:ext uri="{FF2B5EF4-FFF2-40B4-BE49-F238E27FC236}">
                <a16:creationId xmlns:a16="http://schemas.microsoft.com/office/drawing/2014/main" id="{6B175281-1C29-43D5-A0A6-7550FED68F6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303" y="877455"/>
            <a:ext cx="6584632" cy="5103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90102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DD455-E6E2-437E-99D2-5279CE2535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746" y="609600"/>
            <a:ext cx="4287140" cy="132080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GB" sz="2800" dirty="0"/>
              <a:t>Uses of R and RStudio?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290B68-1810-42B4-A767-127981EADC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166" y="2160589"/>
            <a:ext cx="4481919" cy="3560733"/>
          </a:xfrm>
        </p:spPr>
        <p:txBody>
          <a:bodyPr>
            <a:noAutofit/>
          </a:bodyPr>
          <a:lstStyle/>
          <a:p>
            <a:r>
              <a:rPr lang="en-GB" sz="2000" b="1" dirty="0"/>
              <a:t>The uses of R are wide ranging</a:t>
            </a:r>
          </a:p>
          <a:p>
            <a:r>
              <a:rPr lang="en-GB" sz="2000" dirty="0"/>
              <a:t>Research</a:t>
            </a:r>
          </a:p>
          <a:p>
            <a:r>
              <a:rPr lang="en-GB" sz="2000" dirty="0"/>
              <a:t>Statistics, graphical visualisation, data wrangling and more</a:t>
            </a:r>
          </a:p>
          <a:p>
            <a:r>
              <a:rPr lang="en-GB" sz="2000" dirty="0"/>
              <a:t>IT</a:t>
            </a:r>
          </a:p>
          <a:p>
            <a:r>
              <a:rPr lang="en-GB" sz="2000" dirty="0"/>
              <a:t>Finance</a:t>
            </a:r>
          </a:p>
          <a:p>
            <a:r>
              <a:rPr lang="en-GB" sz="2000" dirty="0"/>
              <a:t>Social Media</a:t>
            </a:r>
          </a:p>
          <a:p>
            <a:r>
              <a:rPr lang="en-GB" sz="2000" dirty="0"/>
              <a:t>Healthcare</a:t>
            </a:r>
          </a:p>
          <a:p>
            <a:r>
              <a:rPr lang="en-GB" sz="2000" dirty="0"/>
              <a:t>Governmental Departments</a:t>
            </a:r>
          </a:p>
        </p:txBody>
      </p:sp>
      <p:pic>
        <p:nvPicPr>
          <p:cNvPr id="6" name="Picture 5" descr="Logo, icon&#10;&#10;Description automatically generated">
            <a:extLst>
              <a:ext uri="{FF2B5EF4-FFF2-40B4-BE49-F238E27FC236}">
                <a16:creationId xmlns:a16="http://schemas.microsoft.com/office/drawing/2014/main" id="{6B175281-1C29-43D5-A0A6-7550FED68F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6739" y="1567543"/>
            <a:ext cx="5694196" cy="4413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45353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DD455-E6E2-437E-99D2-5279CE2535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746" y="609600"/>
            <a:ext cx="3729076" cy="132080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GB" sz="2800" dirty="0"/>
              <a:t>Why use 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290B68-1810-42B4-A767-127981EADC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167" y="2160589"/>
            <a:ext cx="4656090" cy="3560733"/>
          </a:xfrm>
        </p:spPr>
        <p:txBody>
          <a:bodyPr>
            <a:noAutofit/>
          </a:bodyPr>
          <a:lstStyle/>
          <a:p>
            <a:r>
              <a:rPr lang="en-GB" sz="2000" dirty="0"/>
              <a:t>Text-based, reproducible.</a:t>
            </a:r>
          </a:p>
          <a:p>
            <a:r>
              <a:rPr lang="en-GB" sz="2000" dirty="0"/>
              <a:t>Extensive, wide range of user-developed packages.</a:t>
            </a:r>
          </a:p>
          <a:p>
            <a:r>
              <a:rPr lang="en-GB" sz="2000" dirty="0"/>
              <a:t>Large &amp; active user community, so very easy to find support if you have difficulties.</a:t>
            </a:r>
          </a:p>
          <a:p>
            <a:r>
              <a:rPr lang="en-GB" sz="2000" dirty="0"/>
              <a:t>An industry standard for data science and statistics, so whether you want to get into academia or business, R is an important skill to have.</a:t>
            </a:r>
          </a:p>
          <a:p>
            <a:endParaRPr lang="en-GB" sz="2000" dirty="0"/>
          </a:p>
        </p:txBody>
      </p:sp>
      <p:pic>
        <p:nvPicPr>
          <p:cNvPr id="6" name="Picture 5" descr="Logo, icon&#10;&#10;Description automatically generated">
            <a:extLst>
              <a:ext uri="{FF2B5EF4-FFF2-40B4-BE49-F238E27FC236}">
                <a16:creationId xmlns:a16="http://schemas.microsoft.com/office/drawing/2014/main" id="{6B175281-1C29-43D5-A0A6-7550FED68F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999" y="2047469"/>
            <a:ext cx="5074935" cy="3933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34074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DD455-E6E2-437E-99D2-5279CE2535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746" y="609600"/>
            <a:ext cx="3729076" cy="1320800"/>
          </a:xfrm>
        </p:spPr>
        <p:txBody>
          <a:bodyPr anchor="ctr"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en-GB" sz="2800" dirty="0">
                <a:solidFill>
                  <a:schemeClr val="accent1">
                    <a:lumMod val="50000"/>
                  </a:schemeClr>
                </a:solidFill>
              </a:rPr>
              <a:t>What is R and RStudio?</a:t>
            </a:r>
            <a:br>
              <a:rPr lang="en-GB" sz="2800" dirty="0"/>
            </a:br>
            <a:r>
              <a:rPr lang="en-GB" sz="2200" dirty="0">
                <a:solidFill>
                  <a:schemeClr val="tx1"/>
                </a:solidFill>
              </a:rPr>
              <a:t>Packages</a:t>
            </a:r>
            <a:br>
              <a:rPr lang="en-GB" sz="2800" dirty="0"/>
            </a:br>
            <a:br>
              <a:rPr lang="en-GB" sz="2800" dirty="0"/>
            </a:br>
            <a:endParaRPr lang="en-GB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290B68-1810-42B4-A767-127981EADC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5672" y="1648633"/>
            <a:ext cx="5470328" cy="3560733"/>
          </a:xfrm>
        </p:spPr>
        <p:txBody>
          <a:bodyPr>
            <a:noAutofit/>
          </a:bodyPr>
          <a:lstStyle/>
          <a:p>
            <a:r>
              <a:rPr lang="en-GB" sz="2000" dirty="0"/>
              <a:t>As open-source software, there are a huge number of packages available through R</a:t>
            </a:r>
          </a:p>
          <a:p>
            <a:r>
              <a:rPr lang="en-GB" sz="2000" dirty="0"/>
              <a:t>Packages contain ready-made useful functions to help us code.</a:t>
            </a:r>
          </a:p>
          <a:p>
            <a:r>
              <a:rPr lang="en-US" sz="2000" dirty="0"/>
              <a:t>A very commonly used package is ‘</a:t>
            </a:r>
            <a:r>
              <a:rPr lang="en-US" sz="2000" dirty="0" err="1"/>
              <a:t>tidyverse</a:t>
            </a:r>
            <a:r>
              <a:rPr lang="en-US" sz="2000" dirty="0"/>
              <a:t>’</a:t>
            </a:r>
          </a:p>
          <a:p>
            <a:r>
              <a:rPr lang="en-US" sz="2000" dirty="0"/>
              <a:t>This combines several important packages, and is the main package we will use during the classes</a:t>
            </a:r>
            <a:endParaRPr lang="en-GB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97DD99A-C213-4711-AC7D-820C923D5C44}"/>
              </a:ext>
            </a:extLst>
          </p:cNvPr>
          <p:cNvSpPr txBox="1"/>
          <p:nvPr/>
        </p:nvSpPr>
        <p:spPr>
          <a:xfrm>
            <a:off x="468836" y="5775060"/>
            <a:ext cx="1049126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accent1">
                    <a:lumMod val="50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https://support.rstudio.com/hc/en-us/articles/201057987-Quick-list-of-useful-R-packages</a:t>
            </a:r>
            <a:endParaRPr lang="en-GB"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en-GB" dirty="0">
                <a:solidFill>
                  <a:schemeClr val="accent2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https://www.tidyverse.org/</a:t>
            </a:r>
            <a:endParaRPr lang="en-GB" dirty="0">
              <a:solidFill>
                <a:schemeClr val="accent2"/>
              </a:solidFill>
            </a:endParaRPr>
          </a:p>
          <a:p>
            <a:r>
              <a:rPr lang="en-GB" dirty="0" err="1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cheatsheets</a:t>
            </a:r>
            <a:r>
              <a:rPr lang="en-GB" dirty="0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/data-transformation.pdf at main · </a:t>
            </a:r>
            <a:r>
              <a:rPr lang="en-GB" dirty="0" err="1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rstudio</a:t>
            </a:r>
            <a:r>
              <a:rPr lang="en-GB" dirty="0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</a:t>
            </a:r>
            <a:r>
              <a:rPr lang="en-GB" dirty="0" err="1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cheatsheets</a:t>
            </a:r>
            <a:r>
              <a:rPr lang="en-GB" dirty="0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(github.com)</a:t>
            </a:r>
            <a:endParaRPr lang="en-GB" dirty="0">
              <a:solidFill>
                <a:schemeClr val="accent2"/>
              </a:solidFill>
            </a:endParaRPr>
          </a:p>
          <a:p>
            <a:endParaRPr lang="en-GB" dirty="0"/>
          </a:p>
          <a:p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9DCA8E9-EF00-4870-A2C5-97B9E3108393}"/>
              </a:ext>
            </a:extLst>
          </p:cNvPr>
          <p:cNvSpPr txBox="1"/>
          <p:nvPr/>
        </p:nvSpPr>
        <p:spPr>
          <a:xfrm>
            <a:off x="625672" y="5263104"/>
            <a:ext cx="4436040" cy="369332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GB" b="0" i="0" dirty="0">
                <a:solidFill>
                  <a:schemeClr val="bg1"/>
                </a:solidFill>
                <a:effectLst/>
                <a:latin typeface="Lucida Console" panose="020B0609040504020204" pitchFamily="49" charset="0"/>
              </a:rPr>
              <a:t>&gt; </a:t>
            </a:r>
            <a:r>
              <a:rPr lang="en-GB" b="0" i="0" dirty="0" err="1">
                <a:solidFill>
                  <a:schemeClr val="bg1"/>
                </a:solidFill>
                <a:effectLst/>
                <a:latin typeface="Lucida Console" panose="020B0609040504020204" pitchFamily="49" charset="0"/>
              </a:rPr>
              <a:t>install.packages</a:t>
            </a:r>
            <a:r>
              <a:rPr lang="en-GB" b="0" i="0" dirty="0">
                <a:solidFill>
                  <a:schemeClr val="bg1"/>
                </a:solidFill>
                <a:effectLst/>
                <a:latin typeface="Lucida Console" panose="020B0609040504020204" pitchFamily="49" charset="0"/>
              </a:rPr>
              <a:t>(‘</a:t>
            </a:r>
            <a:r>
              <a:rPr lang="en-GB" b="0" i="0" dirty="0" err="1">
                <a:solidFill>
                  <a:schemeClr val="bg1"/>
                </a:solidFill>
                <a:effectLst/>
                <a:latin typeface="Lucida Console" panose="020B0609040504020204" pitchFamily="49" charset="0"/>
              </a:rPr>
              <a:t>tidyverse</a:t>
            </a:r>
            <a:r>
              <a:rPr lang="en-GB" b="0" i="0" dirty="0">
                <a:solidFill>
                  <a:schemeClr val="bg1"/>
                </a:solidFill>
                <a:effectLst/>
                <a:latin typeface="Lucida Console" panose="020B0609040504020204" pitchFamily="49" charset="0"/>
              </a:rPr>
              <a:t>)</a:t>
            </a:r>
            <a:endParaRPr lang="en-GB" b="0" dirty="0">
              <a:solidFill>
                <a:schemeClr val="bg1"/>
              </a:solidFill>
              <a:effectLst/>
              <a:highlight>
                <a:srgbClr val="000000"/>
              </a:highlight>
              <a:latin typeface="Consolas" panose="020B0609020204030204" pitchFamily="49" charset="0"/>
            </a:endParaRPr>
          </a:p>
        </p:txBody>
      </p:sp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id="{CA2F6BEC-FAE9-4BC8-8E19-3F6C395E43E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1513" y="1279301"/>
            <a:ext cx="4424815" cy="3983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78581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DD455-E6E2-437E-99D2-5279CE2535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746" y="609600"/>
            <a:ext cx="3729076" cy="1320800"/>
          </a:xfrm>
        </p:spPr>
        <p:txBody>
          <a:bodyPr anchor="ctr"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en-GB" sz="2800" dirty="0">
                <a:solidFill>
                  <a:schemeClr val="accent1">
                    <a:lumMod val="50000"/>
                  </a:schemeClr>
                </a:solidFill>
              </a:rPr>
              <a:t>What is R and RStudio?</a:t>
            </a:r>
            <a:br>
              <a:rPr lang="en-GB" sz="2800" dirty="0"/>
            </a:br>
            <a:r>
              <a:rPr lang="en-GB" sz="2200" dirty="0">
                <a:solidFill>
                  <a:schemeClr val="tx1"/>
                </a:solidFill>
              </a:rPr>
              <a:t>When in doubt</a:t>
            </a:r>
            <a:br>
              <a:rPr lang="en-GB" sz="2800" dirty="0"/>
            </a:br>
            <a:br>
              <a:rPr lang="en-GB" sz="2800" dirty="0"/>
            </a:br>
            <a:endParaRPr lang="en-GB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290B68-1810-42B4-A767-127981EADC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167" y="2160589"/>
            <a:ext cx="4656090" cy="3560733"/>
          </a:xfrm>
        </p:spPr>
        <p:txBody>
          <a:bodyPr>
            <a:noAutofit/>
          </a:bodyPr>
          <a:lstStyle/>
          <a:p>
            <a:r>
              <a:rPr lang="en-GB" sz="2000" dirty="0"/>
              <a:t>The R environment can seem confusing at first, and the packages and functions overwhelming.</a:t>
            </a:r>
          </a:p>
          <a:p>
            <a:r>
              <a:rPr lang="en-GB" sz="2000" dirty="0"/>
              <a:t>A lot can be learned by playing around! Embrace mistakes.</a:t>
            </a:r>
          </a:p>
          <a:p>
            <a:r>
              <a:rPr lang="en-GB" sz="2000" dirty="0"/>
              <a:t>Whenever in doubt the help() function can be used</a:t>
            </a:r>
          </a:p>
          <a:p>
            <a:r>
              <a:rPr lang="en-GB" sz="2000" dirty="0"/>
              <a:t>Beyond that, search online! It’s unlikely you will be the first person to come across a particular issue</a:t>
            </a:r>
          </a:p>
        </p:txBody>
      </p:sp>
      <p:pic>
        <p:nvPicPr>
          <p:cNvPr id="6" name="Picture 5" descr="Logo, icon&#10;&#10;Description automatically generated">
            <a:extLst>
              <a:ext uri="{FF2B5EF4-FFF2-40B4-BE49-F238E27FC236}">
                <a16:creationId xmlns:a16="http://schemas.microsoft.com/office/drawing/2014/main" id="{6B175281-1C29-43D5-A0A6-7550FED68F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999" y="2047469"/>
            <a:ext cx="5074935" cy="3933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41197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F5380F-B36A-78E6-34A6-D6E31314EB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 anchor="t">
            <a:normAutofit/>
          </a:bodyPr>
          <a:lstStyle/>
          <a:p>
            <a:r>
              <a:rPr lang="en-GB" dirty="0"/>
              <a:t>R markdown Documents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502F3C-93A2-45E2-CB78-D489832185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6836" y="1841665"/>
            <a:ext cx="4562323" cy="4269240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GB" dirty="0"/>
              <a:t>Our workshops make use of </a:t>
            </a:r>
            <a:r>
              <a:rPr lang="en-GB" dirty="0" err="1"/>
              <a:t>Rmarkdown</a:t>
            </a:r>
            <a:r>
              <a:rPr lang="en-GB" dirty="0"/>
              <a:t> documents to store the code scripts.</a:t>
            </a:r>
          </a:p>
          <a:p>
            <a:pPr>
              <a:lnSpc>
                <a:spcPct val="90000"/>
              </a:lnSpc>
            </a:pPr>
            <a:r>
              <a:rPr lang="en-GB" dirty="0" err="1"/>
              <a:t>Rmarkdown</a:t>
            </a:r>
            <a:r>
              <a:rPr lang="en-GB" dirty="0"/>
              <a:t> documents are very useful, as they allows us to have hybrid code/text documents.</a:t>
            </a:r>
          </a:p>
          <a:p>
            <a:pPr>
              <a:lnSpc>
                <a:spcPct val="90000"/>
              </a:lnSpc>
            </a:pPr>
            <a:r>
              <a:rPr lang="en-GB" dirty="0"/>
              <a:t>This allows us to do things like write explanations, describe and report our analyses, alongside the code used to conduct our analysis.</a:t>
            </a:r>
          </a:p>
          <a:p>
            <a:pPr>
              <a:lnSpc>
                <a:spcPct val="90000"/>
              </a:lnSpc>
            </a:pPr>
            <a:r>
              <a:rPr lang="en-GB" dirty="0"/>
              <a:t>From a teaching perspective, it allows us to explain and describe what the code is doing, without cluttering the document with #comments. </a:t>
            </a:r>
          </a:p>
          <a:p>
            <a:pPr>
              <a:lnSpc>
                <a:spcPct val="90000"/>
              </a:lnSpc>
            </a:pPr>
            <a:r>
              <a:rPr lang="en-GB" dirty="0"/>
              <a:t>We will guide you through R markdown as we introduce R studio.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1A72FA-A6F8-9FC1-8D8A-86BC4F3F02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2222" y="2044865"/>
            <a:ext cx="6255980" cy="2768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68308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DD455-E6E2-437E-99D2-5279CE2535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167" y="1220098"/>
            <a:ext cx="5316138" cy="349188"/>
          </a:xfrm>
        </p:spPr>
        <p:txBody>
          <a:bodyPr anchor="ctr"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en-GB" sz="2800" dirty="0">
                <a:solidFill>
                  <a:schemeClr val="accent1">
                    <a:lumMod val="50000"/>
                  </a:schemeClr>
                </a:solidFill>
              </a:rPr>
              <a:t>Projects and Working Directories</a:t>
            </a:r>
            <a:br>
              <a:rPr lang="en-GB" sz="2800" dirty="0"/>
            </a:br>
            <a:br>
              <a:rPr lang="en-GB" sz="2800" dirty="0"/>
            </a:br>
            <a:br>
              <a:rPr lang="en-GB" sz="2800" dirty="0"/>
            </a:br>
            <a:br>
              <a:rPr lang="en-GB" sz="2800" dirty="0"/>
            </a:br>
            <a:br>
              <a:rPr lang="en-GB" sz="2800" dirty="0"/>
            </a:br>
            <a:endParaRPr lang="en-GB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290B68-1810-42B4-A767-127981EADC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166" y="1778850"/>
            <a:ext cx="6151063" cy="3560733"/>
          </a:xfrm>
        </p:spPr>
        <p:txBody>
          <a:bodyPr>
            <a:normAutofit fontScale="85000" lnSpcReduction="10000"/>
          </a:bodyPr>
          <a:lstStyle/>
          <a:p>
            <a:r>
              <a:rPr lang="en-GB" sz="2000" dirty="0"/>
              <a:t>Have a separate project for each data analysis.</a:t>
            </a:r>
          </a:p>
          <a:p>
            <a:r>
              <a:rPr lang="en-GB" sz="2000" dirty="0"/>
              <a:t>Creating separate folders for your raw data, your code documents, and your processed data within the project.</a:t>
            </a:r>
          </a:p>
          <a:p>
            <a:r>
              <a:rPr lang="en-GB" sz="2000" dirty="0"/>
              <a:t>When we use projects in R, it will help us control the working directory.</a:t>
            </a:r>
          </a:p>
          <a:p>
            <a:r>
              <a:rPr lang="en-GB" sz="2000" dirty="0"/>
              <a:t>If this seems scary, don’t worry! It took me a long time before I even paid attention to projects. But knowing about them will help you to organise your work flow/manage your data and where and when they are needed</a:t>
            </a:r>
          </a:p>
          <a:p>
            <a:r>
              <a:rPr lang="en-GB" sz="2000" dirty="0"/>
              <a:t>We will cover this within R studio – and revisit during the 2</a:t>
            </a:r>
            <a:r>
              <a:rPr lang="en-GB" sz="2000" baseline="30000" dirty="0"/>
              <a:t>nd</a:t>
            </a:r>
            <a:r>
              <a:rPr lang="en-GB" sz="2000" dirty="0"/>
              <a:t> session.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97DD99A-C213-4711-AC7D-820C923D5C44}"/>
              </a:ext>
            </a:extLst>
          </p:cNvPr>
          <p:cNvSpPr txBox="1"/>
          <p:nvPr/>
        </p:nvSpPr>
        <p:spPr>
          <a:xfrm>
            <a:off x="848975" y="5329244"/>
            <a:ext cx="989522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hlinkClick r:id="rId2"/>
              </a:rPr>
              <a:t>https://r4ds.hadley.nz/workflow-scripts.html</a:t>
            </a:r>
            <a:endParaRPr lang="en-GB" dirty="0"/>
          </a:p>
          <a:p>
            <a:r>
              <a:rPr lang="en-GB" dirty="0">
                <a:hlinkClick r:id="rId3"/>
              </a:rPr>
              <a:t>https://rstudio.github.io/cheatsheets/html/data-transformation.html?_gl=1*1j10rah*_ga*MTA3MzgzMTk5Ny4xNzU4MzE4Mjk1*_ga_2C0WZ1JHG0*czE3NTgzMTgyOTQkbzEkZzEkdDE3NTgzMTg0NDUkajEzJGwwJGgw</a:t>
            </a:r>
            <a:r>
              <a:rPr lang="en-GB" dirty="0"/>
              <a:t> 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585340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334C7-5FCB-40F1-B64D-381EAC8C0D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accent1">
                    <a:lumMod val="50000"/>
                  </a:schemeClr>
                </a:solidFill>
              </a:rPr>
              <a:t>Let’s try it ourselves!</a:t>
            </a:r>
          </a:p>
        </p:txBody>
      </p:sp>
    </p:spTree>
    <p:extLst>
      <p:ext uri="{BB962C8B-B14F-4D97-AF65-F5344CB8AC3E}">
        <p14:creationId xmlns:p14="http://schemas.microsoft.com/office/powerpoint/2010/main" val="3927617895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6FA43870EC3F1479C794ECA0A85DC3A" ma:contentTypeVersion="2" ma:contentTypeDescription="Create a new document." ma:contentTypeScope="" ma:versionID="064810d467210a95de952a583c0e092c">
  <xsd:schema xmlns:xsd="http://www.w3.org/2001/XMLSchema" xmlns:xs="http://www.w3.org/2001/XMLSchema" xmlns:p="http://schemas.microsoft.com/office/2006/metadata/properties" xmlns:ns2="b364318b-48cb-49ac-ac49-de67ddd977f7" targetNamespace="http://schemas.microsoft.com/office/2006/metadata/properties" ma:root="true" ma:fieldsID="691b68d22381f767a6817b4c67c58c89" ns2:_="">
    <xsd:import namespace="b364318b-48cb-49ac-ac49-de67ddd977f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364318b-48cb-49ac-ac49-de67ddd977f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DCB836F7-82AF-4E23-9D21-9859FC9D55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364318b-48cb-49ac-ac49-de67ddd977f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88658A8-8C4E-41E7-AE7E-2016A5FB526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CA43202-FD69-4248-821B-F7FA1D3D9397}">
  <ds:schemaRefs>
    <ds:schemaRef ds:uri="3d9c2ab7-9c2a-45a6-bf32-9905677724b1"/>
    <ds:schemaRef ds:uri="http://purl.org/dc/elements/1.1/"/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3bd22f07-fb06-4731-b4fe-961d76049ed6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294</TotalTime>
  <Words>820</Words>
  <Application>Microsoft Office PowerPoint</Application>
  <PresentationFormat>Widescreen</PresentationFormat>
  <Paragraphs>71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1" baseType="lpstr">
      <vt:lpstr>Arial</vt:lpstr>
      <vt:lpstr>Bauhaus 93</vt:lpstr>
      <vt:lpstr>Calibri</vt:lpstr>
      <vt:lpstr>Consolas</vt:lpstr>
      <vt:lpstr>IntegralCF-Regular</vt:lpstr>
      <vt:lpstr>Lucida Console</vt:lpstr>
      <vt:lpstr>Segoe UI</vt:lpstr>
      <vt:lpstr>Trebuchet MS</vt:lpstr>
      <vt:lpstr>Wingdings 3</vt:lpstr>
      <vt:lpstr>Facet</vt:lpstr>
      <vt:lpstr>Introduction to R and RStudio</vt:lpstr>
      <vt:lpstr>Before Starting…</vt:lpstr>
      <vt:lpstr>Before Starting…</vt:lpstr>
      <vt:lpstr>What is R and RStudio?  </vt:lpstr>
      <vt:lpstr>Uses of R and RStudio?</vt:lpstr>
      <vt:lpstr>Why use R?</vt:lpstr>
      <vt:lpstr>What is R and RStudio? Packages  </vt:lpstr>
      <vt:lpstr>What is R and RStudio? When in doubt  </vt:lpstr>
      <vt:lpstr>R markdown Documents</vt:lpstr>
      <vt:lpstr>Projects and Working Directories     </vt:lpstr>
      <vt:lpstr>Let’s try it ourselves!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 &amp; QGIS: Integrating Statistical and Spatial Data Analysis</dc:title>
  <dc:creator>MCLEAN Andrew</dc:creator>
  <cp:lastModifiedBy>Alex Crest</cp:lastModifiedBy>
  <cp:revision>27</cp:revision>
  <dcterms:created xsi:type="dcterms:W3CDTF">2021-04-29T10:25:44Z</dcterms:created>
  <dcterms:modified xsi:type="dcterms:W3CDTF">2026-01-22T12:34:33Z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0x010100A6FA43870EC3F1479C794ECA0A85DC3A</vt:lpwstr>
  </property>
</Properties>
</file>